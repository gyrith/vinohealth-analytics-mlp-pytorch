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Fira Sans ExtraBold"/>
      <p:bold r:id="rId26"/>
      <p:boldItalic r:id="rId27"/>
    </p:embeddedFont>
    <p:embeddedFont>
      <p:font typeface="Fira Sans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  <p:embeddedFont>
      <p:font typeface="Karl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  <p:ext uri="GoogleSlidesCustomDataVersion2">
      <go:slidesCustomData xmlns:go="http://customooxmlschemas.google.com/" r:id="rId40" roundtripDataSignature="AMtx7miT5C3SuFE26OoUU9FEer8h4KHl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Bold-bold.fntdata"/><Relationship Id="rId25" Type="http://schemas.openxmlformats.org/officeDocument/2006/relationships/font" Target="fonts/Roboto-boldItalic.fntdata"/><Relationship Id="rId28" Type="http://schemas.openxmlformats.org/officeDocument/2006/relationships/font" Target="fonts/FiraSans-regular.fntdata"/><Relationship Id="rId27" Type="http://schemas.openxmlformats.org/officeDocument/2006/relationships/font" Target="fonts/FiraSa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-boldItalic.fntdata"/><Relationship Id="rId30" Type="http://schemas.openxmlformats.org/officeDocument/2006/relationships/font" Target="fonts/FiraSans-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0.xml"/><Relationship Id="rId37" Type="http://schemas.openxmlformats.org/officeDocument/2006/relationships/font" Target="fonts/Karla-bold.fntdata"/><Relationship Id="rId14" Type="http://schemas.openxmlformats.org/officeDocument/2006/relationships/slide" Target="slides/slide9.xml"/><Relationship Id="rId36" Type="http://schemas.openxmlformats.org/officeDocument/2006/relationships/font" Target="fonts/Karla-regular.fntdata"/><Relationship Id="rId17" Type="http://schemas.openxmlformats.org/officeDocument/2006/relationships/slide" Target="slides/slide12.xml"/><Relationship Id="rId39" Type="http://schemas.openxmlformats.org/officeDocument/2006/relationships/font" Target="fonts/Karla-boldItalic.fntdata"/><Relationship Id="rId16" Type="http://schemas.openxmlformats.org/officeDocument/2006/relationships/slide" Target="slides/slide11.xml"/><Relationship Id="rId38" Type="http://schemas.openxmlformats.org/officeDocument/2006/relationships/font" Target="fonts/Karla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f4a83f273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7f4a83f27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f4a83f27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7f4a83f27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Sigmoid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Formula: σ(x)=11+e−x\sigma(x) = \frac{1}{1 + e^{-x}}σ(x)=1+e−x1​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Output range: (0, 1)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Pros</a:t>
            </a:r>
            <a:r>
              <a:rPr lang="en">
                <a:solidFill>
                  <a:schemeClr val="dk1"/>
                </a:solidFill>
              </a:rPr>
              <a:t>: Good for probabilities.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Cons</a:t>
            </a:r>
            <a:r>
              <a:rPr lang="en">
                <a:solidFill>
                  <a:schemeClr val="dk1"/>
                </a:solidFill>
              </a:rPr>
              <a:t>: Saturates (gradients vanish for large |x|), not centered at zero.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Hyperbolic Tangent (tanh)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Formula: tanh⁡(x)=ex−e−xex+e−x\tanh(x) = \frac{e^x - e^{-x}}{e^x + e^{-x}}tanh(x)=ex+e−xex−e−x​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Output range: (-1, 1)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Pros</a:t>
            </a:r>
            <a:r>
              <a:rPr lang="en">
                <a:solidFill>
                  <a:schemeClr val="dk1"/>
                </a:solidFill>
              </a:rPr>
              <a:t>: Zero-centered, stronger gradients than sigmoid.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Cons</a:t>
            </a:r>
            <a:r>
              <a:rPr lang="en">
                <a:solidFill>
                  <a:schemeClr val="dk1"/>
                </a:solidFill>
              </a:rPr>
              <a:t>: Still suffers from vanishing gradients at extremes.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ReLU (Rectified Linear Unit)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Formula: f(x)=max⁡(0,x)f(x) = \max(0, x)f(x)=max(0,x)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Output range: [0, ∞)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Pros</a:t>
            </a:r>
            <a:r>
              <a:rPr lang="en">
                <a:solidFill>
                  <a:schemeClr val="dk1"/>
                </a:solidFill>
              </a:rPr>
              <a:t>: Simple, efficient, reduces vanishing gradient issues, widely used in hidden layers.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Cons</a:t>
            </a:r>
            <a:r>
              <a:rPr lang="en">
                <a:solidFill>
                  <a:schemeClr val="dk1"/>
                </a:solidFill>
              </a:rPr>
              <a:t>: Can cause “dying ReLU” problem (neurons stuck at 0).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 Leaky ReLU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Formula: f(x)=max⁡(αx,x)f(x) = \max(\alpha x, x)f(x)=max(αx,x), with small α (e.g., 0.01)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Pros</a:t>
            </a:r>
            <a:r>
              <a:rPr lang="en">
                <a:solidFill>
                  <a:schemeClr val="dk1"/>
                </a:solidFill>
              </a:rPr>
              <a:t>: Fixes dying ReLU problem by allowing small negative values.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Cons</a:t>
            </a:r>
            <a:r>
              <a:rPr lang="en">
                <a:solidFill>
                  <a:schemeClr val="dk1"/>
                </a:solidFill>
              </a:rPr>
              <a:t>: Slightly more complex, α is a hyperparameter.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5. Softmax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Formula: softmax(zi)=ezi∑jezj\text{softmax}(z_i) = \frac{e^{z_i}}{\sum_j e^{z_j}}softmax(zi​)=∑j​ezj​ezi​​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Output range: (0, 1), sums to 1 across classes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Pros</a:t>
            </a:r>
            <a:r>
              <a:rPr lang="en">
                <a:solidFill>
                  <a:schemeClr val="dk1"/>
                </a:solidFill>
              </a:rPr>
              <a:t>: Standard for multi-class classification in the output layer.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Cons</a:t>
            </a:r>
            <a:r>
              <a:rPr lang="en">
                <a:solidFill>
                  <a:schemeClr val="dk1"/>
                </a:solidFill>
              </a:rPr>
              <a:t>: Computationally heavier, sensitive to large input values.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6. ELU (Exponential Linear Unit)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Formula: f(x)={xif x&gt;0α(ex−1)if x≤0f(x) = \begin{cases} x &amp; \text{if } x &gt; 0 \\ \alpha(e^x - 1) &amp; \text{if } x \leq 0 \end{cases}f(x)={xα(ex−1)​if x&gt;0if x≤0​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Pros</a:t>
            </a:r>
            <a:r>
              <a:rPr lang="en">
                <a:solidFill>
                  <a:schemeClr val="dk1"/>
                </a:solidFill>
              </a:rPr>
              <a:t>: Smooth, reduces bias shift, can outperform ReLU.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Cons</a:t>
            </a:r>
            <a:r>
              <a:rPr lang="en">
                <a:solidFill>
                  <a:schemeClr val="dk1"/>
                </a:solidFill>
              </a:rPr>
              <a:t>: More computationally expensive.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f7bfc40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f7bfc40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7bfc408b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7f7bfc408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f7bfc408b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7f7bfc408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f7bfc408b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7f7bfc40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7bfc408b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7f7bfc408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f7bfc408b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7f7bfc408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f7bfc408b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7f7bfc408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f7bfc408b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7f7bfc408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7bfc408b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7f7bfc408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7bfc408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7f7bfc408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f7bfc408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7f7bfc408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f7bfc408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7f7bfc408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f7bfc408b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7f7bfc408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276725" y="903375"/>
            <a:ext cx="5366100" cy="27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Multi-layer Perceptrons</a:t>
            </a:r>
            <a:endParaRPr b="0" i="0" sz="58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768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4a83f273_0_7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7f4a83f273_0_7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Multi-layer perceptrons (MLP)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Foundational deep learning architecture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Handles both classification and regression tasks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We will use </a:t>
            </a:r>
            <a:r>
              <a:rPr b="1" lang="en" sz="1100">
                <a:solidFill>
                  <a:schemeClr val="dk1"/>
                </a:solidFill>
              </a:rPr>
              <a:t>TensorFlow/Keras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PyTorch</a:t>
            </a:r>
            <a:r>
              <a:rPr lang="en" sz="1100">
                <a:solidFill>
                  <a:schemeClr val="dk1"/>
                </a:solidFill>
              </a:rPr>
              <a:t> for implementation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" name="Google Shape;69;g37f4a83f273_0_7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Multi-Layer Perceptrons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" name="Google Shape;70;g37f4a83f273_0_7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f4a83f273_1_7"/>
          <p:cNvSpPr txBox="1"/>
          <p:nvPr/>
        </p:nvSpPr>
        <p:spPr>
          <a:xfrm>
            <a:off x="4855864" y="1049536"/>
            <a:ext cx="246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Generated image" id="76" name="Google Shape;76;g37f4a83f273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50" y="254075"/>
            <a:ext cx="6043475" cy="40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f7bfc408b_0_0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7f7bfc408b_0_0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Versatile: solve both classification &amp; regression problems</a:t>
            </a:r>
            <a:b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Industry relevance: finance, healthcare, e-commerce</a:t>
            </a:r>
            <a:b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Framework diversity: exposure to PyTorch complements TensorFlow/Keras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" name="Google Shape;83;g37f7bfc408b_0_0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Why </a:t>
            </a: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MLPs</a:t>
            </a: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 matter?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" name="Google Shape;84;g37f7bfc408b_0_0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f7bfc408b_0_9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7f7bfc408b_0_9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Healthcare (Mayo Clinic):</a:t>
            </a:r>
            <a:r>
              <a:rPr lang="en" sz="1100">
                <a:solidFill>
                  <a:schemeClr val="dk1"/>
                </a:solidFill>
              </a:rPr>
              <a:t> disease prediction with patient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Finance (JPMorgan Chase):</a:t>
            </a:r>
            <a:r>
              <a:rPr lang="en" sz="1100">
                <a:solidFill>
                  <a:schemeClr val="dk1"/>
                </a:solidFill>
              </a:rPr>
              <a:t> credit risk assessment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E-commerce (Amazon):</a:t>
            </a:r>
            <a:r>
              <a:rPr lang="en" sz="1100">
                <a:solidFill>
                  <a:schemeClr val="dk1"/>
                </a:solidFill>
              </a:rPr>
              <a:t> demand forecasting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Impact: improved diagnosis, better risk management, optimized supply chains</a:t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" name="Google Shape;91;g37f7bfc408b_0_9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Industry Applications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" name="Google Shape;92;g37f7bfc408b_0_9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f7bfc408b_0_17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7f7bfc408b_0_17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Input Layer → Hidden Layers → Output Layer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Classification:</a:t>
            </a:r>
            <a:r>
              <a:rPr lang="en" sz="1100">
                <a:solidFill>
                  <a:schemeClr val="dk1"/>
                </a:solidFill>
              </a:rPr>
              <a:t> softmax/sigmoid activations for probabilities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Regression:</a:t>
            </a:r>
            <a:r>
              <a:rPr lang="en" sz="1100">
                <a:solidFill>
                  <a:schemeClr val="dk1"/>
                </a:solidFill>
              </a:rPr>
              <a:t> linear activation for continuous outputs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Activation functions (ReLU, sigmoid, softmax) enable non-linear modeling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" name="Google Shape;99;g37f7bfc408b_0_17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Defining MLPs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" name="Google Shape;100;g37f7bfc408b_0_17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f7bfc408b_0_25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7f7bfc408b_0_25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Forward Propagation:</a:t>
            </a:r>
            <a:r>
              <a:rPr lang="en" sz="1100">
                <a:solidFill>
                  <a:schemeClr val="dk1"/>
                </a:solidFill>
              </a:rPr>
              <a:t> input flows through weighted layers with activations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Backpropagation:</a:t>
            </a:r>
            <a:r>
              <a:rPr lang="en" sz="1100">
                <a:solidFill>
                  <a:schemeClr val="dk1"/>
                </a:solidFill>
              </a:rPr>
              <a:t> weights updated via gradient descent to minimize error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Classification → categories (spam detection, medical diagnosis)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Regression → continuous predictions (housing prices, energy demand)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g37f7bfc408b_0_25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How </a:t>
            </a: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MLPs work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" name="Google Shape;108;g37f7bfc408b_0_25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f7bfc408b_0_33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7f7bfc408b_0_33"/>
          <p:cNvSpPr txBox="1"/>
          <p:nvPr/>
        </p:nvSpPr>
        <p:spPr>
          <a:xfrm>
            <a:off x="3398625" y="755875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Define dataset &amp; preprocess features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Build architecture (layers, activations)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Choose loss function &amp; optimizer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Train model with forward/backpropagation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Evaluate accuracy/error on validation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Optimize hyperparameters for deployment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" name="Google Shape;115;g37f7bfc408b_0_33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Process of building MLPs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6" name="Google Shape;116;g37f7bfc408b_0_33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f7bfc408b_0_76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7f7bfc408b_0_76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Both consist of </a:t>
            </a:r>
            <a:r>
              <a:rPr b="1" lang="en" sz="1100">
                <a:solidFill>
                  <a:schemeClr val="dk1"/>
                </a:solidFill>
              </a:rPr>
              <a:t>layers of neurons</a:t>
            </a:r>
            <a:r>
              <a:rPr lang="en" sz="1100">
                <a:solidFill>
                  <a:schemeClr val="dk1"/>
                </a:solidFill>
              </a:rPr>
              <a:t> (input, hidden, output)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forward propagation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backpropagation</a:t>
            </a:r>
            <a:r>
              <a:rPr lang="en" sz="1100">
                <a:solidFill>
                  <a:schemeClr val="dk1"/>
                </a:solidFill>
              </a:rPr>
              <a:t> for training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Rely on </a:t>
            </a:r>
            <a:r>
              <a:rPr b="1" lang="en" sz="1100">
                <a:solidFill>
                  <a:schemeClr val="dk1"/>
                </a:solidFill>
              </a:rPr>
              <a:t>activation functions</a:t>
            </a:r>
            <a:r>
              <a:rPr lang="en" sz="1100">
                <a:solidFill>
                  <a:schemeClr val="dk1"/>
                </a:solidFill>
              </a:rPr>
              <a:t> (ReLU, sigmoid, softmax) to capture non-linear patterns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Both can be applied to </a:t>
            </a:r>
            <a:r>
              <a:rPr b="1" lang="en" sz="1100">
                <a:solidFill>
                  <a:schemeClr val="dk1"/>
                </a:solidFill>
              </a:rPr>
              <a:t>classification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regression</a:t>
            </a:r>
            <a:r>
              <a:rPr lang="en" sz="1100">
                <a:solidFill>
                  <a:schemeClr val="dk1"/>
                </a:solidFill>
              </a:rPr>
              <a:t> tasks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" name="Google Shape;123;g37f7bfc408b_0_76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Deep Neural Networks vs. Multi-Layer Perceptrons: Similarities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" name="Google Shape;124;g37f7bfc408b_0_76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f7bfc408b_0_86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7f7bfc408b_0_86"/>
          <p:cNvSpPr txBox="1"/>
          <p:nvPr/>
        </p:nvSpPr>
        <p:spPr>
          <a:xfrm>
            <a:off x="3503700" y="51385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MLPs</a:t>
            </a:r>
            <a:r>
              <a:rPr lang="en" sz="1100">
                <a:solidFill>
                  <a:schemeClr val="dk1"/>
                </a:solidFill>
              </a:rPr>
              <a:t> are the </a:t>
            </a:r>
            <a:r>
              <a:rPr b="1" lang="en" sz="1100">
                <a:solidFill>
                  <a:schemeClr val="dk1"/>
                </a:solidFill>
              </a:rPr>
              <a:t>simplest form</a:t>
            </a:r>
            <a:r>
              <a:rPr lang="en" sz="1100">
                <a:solidFill>
                  <a:schemeClr val="dk1"/>
                </a:solidFill>
              </a:rPr>
              <a:t> of deep neural networks, typically fully connected with dense layers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Deep NNs</a:t>
            </a:r>
            <a:r>
              <a:rPr lang="en" sz="1100">
                <a:solidFill>
                  <a:schemeClr val="dk1"/>
                </a:solidFill>
              </a:rPr>
              <a:t> can include </a:t>
            </a:r>
            <a:r>
              <a:rPr b="1" lang="en" sz="1100">
                <a:solidFill>
                  <a:schemeClr val="dk1"/>
                </a:solidFill>
              </a:rPr>
              <a:t>specialized architectures</a:t>
            </a:r>
            <a:r>
              <a:rPr lang="en" sz="1100">
                <a:solidFill>
                  <a:schemeClr val="dk1"/>
                </a:solidFill>
              </a:rPr>
              <a:t> (CNNs for images, RNNs for sequences, Transformers for NLP)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MLPs handle </a:t>
            </a:r>
            <a:r>
              <a:rPr b="1" lang="en" sz="1100">
                <a:solidFill>
                  <a:schemeClr val="dk1"/>
                </a:solidFill>
              </a:rPr>
              <a:t>structured/tabular data</a:t>
            </a:r>
            <a:r>
              <a:rPr lang="en" sz="1100">
                <a:solidFill>
                  <a:schemeClr val="dk1"/>
                </a:solidFill>
              </a:rPr>
              <a:t> well, while deep NNs often excel in </a:t>
            </a:r>
            <a:r>
              <a:rPr b="1" lang="en" sz="1100">
                <a:solidFill>
                  <a:schemeClr val="dk1"/>
                </a:solidFill>
              </a:rPr>
              <a:t>complex, high-dimensional data</a:t>
            </a:r>
            <a:r>
              <a:rPr lang="en" sz="1100">
                <a:solidFill>
                  <a:schemeClr val="dk1"/>
                </a:solidFill>
              </a:rPr>
              <a:t> (e.g., images, text, audio)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Deep NNs can be much </a:t>
            </a:r>
            <a:r>
              <a:rPr b="1" lang="en" sz="1100">
                <a:solidFill>
                  <a:schemeClr val="dk1"/>
                </a:solidFill>
              </a:rPr>
              <a:t>deeper and more complex</a:t>
            </a:r>
            <a:r>
              <a:rPr lang="en" sz="1100">
                <a:solidFill>
                  <a:schemeClr val="dk1"/>
                </a:solidFill>
              </a:rPr>
              <a:t>, requiring advanced techniques for stability (batch norm, residual connections)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1" name="Google Shape;131;g37f7bfc408b_0_86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Deep Neural Networks vs. Multi-Layer Perceptrons: Differences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2" name="Google Shape;132;g37f7bfc408b_0_86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7bfc408b_0_41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7f7bfc408b_0_41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Predict purchase likelihood (</a:t>
            </a:r>
            <a:r>
              <a:rPr b="1" lang="en" sz="1100">
                <a:solidFill>
                  <a:schemeClr val="dk1"/>
                </a:solidFill>
              </a:rPr>
              <a:t>classification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Predict purchase amount (</a:t>
            </a:r>
            <a:r>
              <a:rPr b="1" lang="en" sz="1100">
                <a:solidFill>
                  <a:schemeClr val="dk1"/>
                </a:solidFill>
              </a:rPr>
              <a:t>regression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Implemented with </a:t>
            </a:r>
            <a:r>
              <a:rPr b="1" lang="en" sz="1100">
                <a:solidFill>
                  <a:schemeClr val="dk1"/>
                </a:solidFill>
              </a:rPr>
              <a:t>PyTorch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Insights inform marketing strategy &amp; personalized offers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9" name="Google Shape;139;g37f7bfc408b_0_41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Example – E-commerce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0" name="Google Shape;140;g37f7bfc408b_0_41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f7bfc408b_0_50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7f7bfc408b_0_50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TensorFlow/Keras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○"/>
            </a:pPr>
            <a:r>
              <a:rPr lang="en" sz="1100">
                <a:solidFill>
                  <a:schemeClr val="dk1"/>
                </a:solidFill>
              </a:rPr>
              <a:t>Concise, high-level APIs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Sequential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fit()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○"/>
            </a:pPr>
            <a:r>
              <a:rPr lang="en" sz="1100">
                <a:solidFill>
                  <a:schemeClr val="dk1"/>
                </a:solidFill>
              </a:rPr>
              <a:t>Great for rapid prototyping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PyTorch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○"/>
            </a:pPr>
            <a:r>
              <a:rPr lang="en" sz="1100">
                <a:solidFill>
                  <a:schemeClr val="dk1"/>
                </a:solidFill>
              </a:rPr>
              <a:t>More explicit training loops (manual forward/backward passes)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○"/>
            </a:pPr>
            <a:r>
              <a:rPr lang="en" sz="1100">
                <a:solidFill>
                  <a:schemeClr val="dk1"/>
                </a:solidFill>
              </a:rPr>
              <a:t>Provides flexibility and granular control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Performance:</a:t>
            </a:r>
            <a:r>
              <a:rPr lang="en" sz="1100">
                <a:solidFill>
                  <a:schemeClr val="dk1"/>
                </a:solidFill>
              </a:rPr>
              <a:t> Both frameworks yield comparable results on regression &amp; classification tasks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7" name="Google Shape;147;g37f7bfc408b_0_50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Comparing frameworks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" name="Google Shape;148;g37f7bfc408b_0_50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7bfc408b_0_94"/>
          <p:cNvSpPr txBox="1"/>
          <p:nvPr/>
        </p:nvSpPr>
        <p:spPr>
          <a:xfrm>
            <a:off x="4855864" y="1049536"/>
            <a:ext cx="246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g37f7bfc408b_0_94" title="Screenshot 2025-09-15 at 14.22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375" y="738900"/>
            <a:ext cx="4788176" cy="40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7f7bfc408b_0_94"/>
          <p:cNvSpPr txBox="1"/>
          <p:nvPr/>
        </p:nvSpPr>
        <p:spPr>
          <a:xfrm>
            <a:off x="0" y="0"/>
            <a:ext cx="874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Some comparisons between frameworks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7bfc408b_0_102"/>
          <p:cNvSpPr txBox="1"/>
          <p:nvPr/>
        </p:nvSpPr>
        <p:spPr>
          <a:xfrm>
            <a:off x="4855864" y="1049536"/>
            <a:ext cx="246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7f7bfc408b_0_102"/>
          <p:cNvSpPr txBox="1"/>
          <p:nvPr/>
        </p:nvSpPr>
        <p:spPr>
          <a:xfrm>
            <a:off x="0" y="0"/>
            <a:ext cx="902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Some comparisons between frameworks</a:t>
            </a:r>
            <a:endParaRPr/>
          </a:p>
        </p:txBody>
      </p:sp>
      <p:pic>
        <p:nvPicPr>
          <p:cNvPr id="162" name="Google Shape;162;g37f7bfc408b_0_102" title="Screenshot 2025-09-15 at 14.24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175" y="738900"/>
            <a:ext cx="4245827" cy="397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f7bfc408b_0_109"/>
          <p:cNvSpPr txBox="1"/>
          <p:nvPr/>
        </p:nvSpPr>
        <p:spPr>
          <a:xfrm>
            <a:off x="4855864" y="1049536"/>
            <a:ext cx="246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g37f7bfc408b_0_109"/>
          <p:cNvSpPr txBox="1"/>
          <p:nvPr/>
        </p:nvSpPr>
        <p:spPr>
          <a:xfrm>
            <a:off x="0" y="0"/>
            <a:ext cx="890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Some comparisons between frameworks</a:t>
            </a:r>
            <a:endParaRPr/>
          </a:p>
        </p:txBody>
      </p:sp>
      <p:pic>
        <p:nvPicPr>
          <p:cNvPr id="169" name="Google Shape;169;g37f7bfc408b_0_109" title="Screenshot 2025-09-15 at 14.25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25" y="989300"/>
            <a:ext cx="5160651" cy="25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f7bfc408b_0_59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f7bfc408b_0_59"/>
          <p:cNvSpPr txBox="1"/>
          <p:nvPr/>
        </p:nvSpPr>
        <p:spPr>
          <a:xfrm>
            <a:off x="3398625" y="1043000"/>
            <a:ext cx="4095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MLPs are core deep learning models for structured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Both TensorFlow/Keras and PyTorch are valuable tools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Industry examples show wide applicability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Hands-on skills: architecture design, training, evaluation, tuning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Next steps: normalization &amp; regularization to improve models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g37f7bfc408b_0_59"/>
          <p:cNvSpPr txBox="1"/>
          <p:nvPr>
            <p:ph idx="4294967295" type="ctrTitle"/>
          </p:nvPr>
        </p:nvSpPr>
        <p:spPr>
          <a:xfrm>
            <a:off x="68375" y="132002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Key Takeaways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" name="Google Shape;177;g37f7bfc408b_0_59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